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embeddedFontLst>
    <p:embeddedFont>
      <p:font typeface="Roboto" panose="02000000000000000000" pitchFamily="34" charset="0"/>
      <p:regular r:id="rId13"/>
    </p:embeddedFont>
    <p:embeddedFont>
      <p:font typeface="Roboto" panose="02000000000000000000" pitchFamily="34" charset="-122"/>
      <p:regular r:id="rId14"/>
    </p:embeddedFont>
    <p:embeddedFont>
      <p:font typeface="Roboto" panose="02000000000000000000" pitchFamily="34" charset="-120"/>
      <p:regular r:id="rId15"/>
    </p:embeddedFont>
    <p:embeddedFont>
      <p:font typeface="Roboto Slab" pitchFamily="34" charset="0"/>
      <p:regular r:id="rId16"/>
    </p:embeddedFont>
    <p:embeddedFont>
      <p:font typeface="Roboto Slab" pitchFamily="34" charset="-122"/>
      <p:regular r:id="rId17"/>
    </p:embeddedFont>
    <p:embeddedFont>
      <p:font typeface="Roboto Slab" pitchFamily="34" charset="-120"/>
      <p:regular r:id="rId18"/>
    </p:embeddedFont>
    <p:embeddedFont>
      <p:font typeface="Roboto Bold" panose="02000000000000000000" pitchFamily="34" charset="0"/>
      <p:bold r:id="rId19"/>
    </p:embeddedFont>
    <p:embeddedFont>
      <p:font typeface="Roboto Bold" panose="02000000000000000000" pitchFamily="34" charset="-122"/>
      <p:bold r:id="rId20"/>
    </p:embeddedFont>
    <p:embeddedFont>
      <p:font typeface="Roboto Bold" panose="02000000000000000000" pitchFamily="34" charset="-120"/>
      <p:bold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13.fntdata"/><Relationship Id="rId24" Type="http://schemas.openxmlformats.org/officeDocument/2006/relationships/font" Target="fonts/font12.fntdata"/><Relationship Id="rId23" Type="http://schemas.openxmlformats.org/officeDocument/2006/relationships/font" Target="fonts/font11.fntdata"/><Relationship Id="rId22" Type="http://schemas.openxmlformats.org/officeDocument/2006/relationships/font" Target="fonts/font10.fntdata"/><Relationship Id="rId21" Type="http://schemas.openxmlformats.org/officeDocument/2006/relationships/font" Target="fonts/font9.fntdata"/><Relationship Id="rId20" Type="http://schemas.openxmlformats.org/officeDocument/2006/relationships/font" Target="fonts/font8.fntdata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423095"/>
            <a:ext cx="1188095" cy="215354"/>
          </a:xfrm>
          <a:prstGeom prst="roundRect">
            <a:avLst>
              <a:gd name="adj" fmla="val 7900"/>
            </a:avLst>
          </a:prstGeom>
          <a:solidFill>
            <a:srgbClr val="D7DFF4"/>
          </a:solidFill>
        </p:spPr>
      </p:sp>
      <p:sp>
        <p:nvSpPr>
          <p:cNvPr id="3" name="Text 1"/>
          <p:cNvSpPr/>
          <p:nvPr/>
        </p:nvSpPr>
        <p:spPr>
          <a:xfrm>
            <a:off x="581174" y="1465585"/>
            <a:ext cx="1475184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HACKATHON DEMO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9929" y="1698962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Shopping Decision Assistant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2350740"/>
            <a:ext cx="8151763" cy="1369591"/>
          </a:xfrm>
          <a:prstGeom prst="roundRect">
            <a:avLst>
              <a:gd name="adj" fmla="val 1553"/>
            </a:avLst>
          </a:prstGeom>
          <a:solidFill>
            <a:srgbClr val="E9ECF2"/>
          </a:solidFill>
        </p:spPr>
      </p:sp>
      <p:sp>
        <p:nvSpPr>
          <p:cNvPr id="6" name="Shape 4"/>
          <p:cNvSpPr/>
          <p:nvPr/>
        </p:nvSpPr>
        <p:spPr>
          <a:xfrm>
            <a:off x="496119" y="2350740"/>
            <a:ext cx="4075881" cy="1369591"/>
          </a:xfrm>
          <a:custGeom>
            <a:avLst/>
            <a:gdLst/>
            <a:ahLst/>
            <a:cxnLst/>
            <a:rect l="l" t="t" r="r" b="b"/>
            <a:pathLst>
              <a:path w="4075881" h="1369591">
                <a:moveTo>
                  <a:pt x="17721" y="0"/>
                </a:moveTo>
                <a:lnTo>
                  <a:pt x="4075881" y="0"/>
                </a:lnTo>
                <a:lnTo>
                  <a:pt x="4075881" y="1369591"/>
                </a:lnTo>
                <a:lnTo>
                  <a:pt x="17721" y="1369591"/>
                </a:lnTo>
                <a:arcTo wR="17721" hR="17721" stAng="5400000" swAng="5400000"/>
                <a:lnTo>
                  <a:pt x="0" y="17721"/>
                </a:lnTo>
                <a:arcTo wR="17721" hR="17721" stAng="10800000" swAng="5400000"/>
                <a:close/>
              </a:path>
            </a:pathLst>
          </a:custGeom>
          <a:solidFill>
            <a:srgbClr val="E9ECF2"/>
          </a:solidFill>
        </p:spPr>
      </p:sp>
      <p:sp>
        <p:nvSpPr>
          <p:cNvPr id="7" name="Text 5"/>
          <p:cNvSpPr/>
          <p:nvPr/>
        </p:nvSpPr>
        <p:spPr>
          <a:xfrm>
            <a:off x="637877" y="2492499"/>
            <a:ext cx="379236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7877" y="2799011"/>
            <a:ext cx="3792364" cy="779562"/>
          </a:xfrm>
          <a:prstGeom prst="rect">
            <a:avLst/>
          </a:prstGeom>
          <a:noFill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Choice overload — hundreds of options, zero clarity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Information scattered across reviews, specs, prices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Black-box recommendations with no reasoning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2350740"/>
            <a:ext cx="4075881" cy="1369591"/>
          </a:xfrm>
          <a:custGeom>
            <a:avLst/>
            <a:gdLst/>
            <a:ahLst/>
            <a:cxnLst/>
            <a:rect l="l" t="t" r="r" b="b"/>
            <a:pathLst>
              <a:path w="4075881" h="1369591">
                <a:moveTo>
                  <a:pt x="0" y="0"/>
                </a:moveTo>
                <a:lnTo>
                  <a:pt x="4058161" y="0"/>
                </a:lnTo>
                <a:arcTo wR="17721" hR="17721" stAng="16200000" swAng="5400000"/>
                <a:lnTo>
                  <a:pt x="4075881" y="1351870"/>
                </a:lnTo>
                <a:arcTo wR="17721" hR="17721" stAng="0" swAng="5400000"/>
                <a:lnTo>
                  <a:pt x="0" y="1369591"/>
                </a:lnTo>
                <a:lnTo>
                  <a:pt x="0" y="0"/>
                </a:lnTo>
                <a:close/>
              </a:path>
            </a:pathLst>
          </a:custGeom>
          <a:solidFill>
            <a:srgbClr val="E9ECF2"/>
          </a:solidFill>
        </p:spPr>
      </p:sp>
      <p:sp>
        <p:nvSpPr>
          <p:cNvPr id="10" name="Shape 8"/>
          <p:cNvSpPr/>
          <p:nvPr/>
        </p:nvSpPr>
        <p:spPr>
          <a:xfrm>
            <a:off x="4572000" y="2350740"/>
            <a:ext cx="19050" cy="1369591"/>
          </a:xfrm>
          <a:prstGeom prst="roundRect">
            <a:avLst>
              <a:gd name="adj" fmla="val 50000"/>
            </a:avLst>
          </a:prstGeom>
          <a:solidFill>
            <a:srgbClr val="CFD2D8"/>
          </a:solidFill>
        </p:spPr>
      </p:sp>
      <p:sp>
        <p:nvSpPr>
          <p:cNvPr id="11" name="Text 9"/>
          <p:cNvSpPr/>
          <p:nvPr/>
        </p:nvSpPr>
        <p:spPr>
          <a:xfrm>
            <a:off x="4713759" y="2492499"/>
            <a:ext cx="379236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Solution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13759" y="2799011"/>
            <a:ext cx="3792364" cy="7654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Search → Filter → Compare → Explain → Recommend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Personalized recommendations based on your needs, budget, and preferences — with full transparency.</a:t>
            </a:r>
            <a:endParaRPr lang="en-US" sz="1100" dirty="0"/>
          </a:p>
        </p:txBody>
      </p:sp>
      <p:sp>
        <p:nvSpPr>
          <p:cNvPr id="13" name="Rectangle 12"/>
          <p:cNvSpPr/>
          <p:nvPr/>
        </p:nvSpPr>
        <p:spPr>
          <a:xfrm>
            <a:off x="8016240" y="4841240"/>
            <a:ext cx="1129665" cy="26797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88305" cy="107603"/>
          </a:xfrm>
          <a:prstGeom prst="roundRect">
            <a:avLst>
              <a:gd name="adj" fmla="val 7905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860524" cy="651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3257B8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ARCHITECTURE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It Works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5996"/>
            <a:ext cx="4876800" cy="4876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2166" y="2992041"/>
            <a:ext cx="2990404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Innovation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662166" y="3138190"/>
            <a:ext cx="2990404" cy="1701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Deterministic retrieval and LLM reasoning are </a:t>
            </a:r>
            <a:r>
              <a:rPr lang="en-US" sz="550" b="1" dirty="0">
                <a:solidFill>
                  <a:srgbClr val="15213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fully separated</a:t>
            </a:r>
            <a:r>
              <a:rPr lang="en-US" sz="5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fast, predictable search feeds a focused AI comparison layer.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5662166" y="3348112"/>
            <a:ext cx="2990404" cy="184175"/>
          </a:xfrm>
          <a:prstGeom prst="roundRect">
            <a:avLst>
              <a:gd name="adj" fmla="val 5773"/>
            </a:avLst>
          </a:prstGeom>
          <a:solidFill>
            <a:srgbClr val="D7DFF4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008" y="3401244"/>
            <a:ext cx="88553" cy="70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92403" y="3397672"/>
            <a:ext cx="3146524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Catalog: 194 products · 24 categories · fetched once, cached locally</a:t>
            </a:r>
            <a:endParaRPr lang="en-US" sz="550" dirty="0"/>
          </a:p>
        </p:txBody>
      </p:sp>
      <p:sp>
        <p:nvSpPr>
          <p:cNvPr id="11" name="Rectangle 10"/>
          <p:cNvSpPr/>
          <p:nvPr/>
        </p:nvSpPr>
        <p:spPr>
          <a:xfrm>
            <a:off x="8023860" y="4841240"/>
            <a:ext cx="1129665" cy="26797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2346"/>
            <a:ext cx="1353592" cy="205234"/>
          </a:xfrm>
          <a:prstGeom prst="roundRect">
            <a:avLst>
              <a:gd name="adj" fmla="val 7901"/>
            </a:avLst>
          </a:prstGeom>
          <a:solidFill>
            <a:srgbClr val="D7DFF4"/>
          </a:solidFill>
        </p:spPr>
      </p:sp>
      <p:sp>
        <p:nvSpPr>
          <p:cNvPr id="3" name="Text 1"/>
          <p:cNvSpPr/>
          <p:nvPr/>
        </p:nvSpPr>
        <p:spPr>
          <a:xfrm>
            <a:off x="577155" y="472827"/>
            <a:ext cx="1648718" cy="1242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AI INTELLIGENCE LAYER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89074"/>
            <a:ext cx="8151763" cy="422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LLM Comparator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496119" y="2568253"/>
            <a:ext cx="3944169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7504" y="1449437"/>
            <a:ext cx="2103165" cy="730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47815" y="1603549"/>
            <a:ext cx="1718742" cy="4222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Structured Prompt + Strict JSON Output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9405" y="1449437"/>
            <a:ext cx="2103165" cy="7304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79716" y="1603549"/>
            <a:ext cx="1718742" cy="4222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Ranking by Intent + Hard Constraints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7504" y="2308622"/>
            <a:ext cx="2103165" cy="7304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47815" y="2462733"/>
            <a:ext cx="1718742" cy="4222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Price, Rating, Stock &amp; Return Policy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9405" y="2308622"/>
            <a:ext cx="2103165" cy="7304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79716" y="2462733"/>
            <a:ext cx="1718742" cy="4222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Explainable Reasons &amp; Tradeoffs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7504" y="3167807"/>
            <a:ext cx="2103165" cy="73044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547815" y="3321918"/>
            <a:ext cx="1718742" cy="4222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Follow-up Questions Re-rank Results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496119" y="4188023"/>
            <a:ext cx="8151763" cy="523131"/>
          </a:xfrm>
          <a:prstGeom prst="roundRect">
            <a:avLst>
              <a:gd name="adj" fmla="val 3874"/>
            </a:avLst>
          </a:prstGeom>
          <a:solidFill>
            <a:srgbClr val="D7DFF4"/>
          </a:solidFill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80" y="4370338"/>
            <a:ext cx="168846" cy="13506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35087" y="4350469"/>
            <a:ext cx="8034933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Example:</a:t>
            </a:r>
            <a:r>
              <a:rPr lang="en-US" sz="10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"Running shoes under $120, 4★+, wide feet" → Top pick scored, rationale explained, tradeoffs surfaced.</a:t>
            </a:r>
            <a:endParaRPr lang="en-US" sz="1050" dirty="0"/>
          </a:p>
        </p:txBody>
      </p:sp>
      <p:sp>
        <p:nvSpPr>
          <p:cNvPr id="19" name="Rectangle 18"/>
          <p:cNvSpPr/>
          <p:nvPr/>
        </p:nvSpPr>
        <p:spPr>
          <a:xfrm>
            <a:off x="8023860" y="4841240"/>
            <a:ext cx="1129665" cy="26797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522908" cy="107603"/>
          </a:xfrm>
          <a:prstGeom prst="roundRect">
            <a:avLst>
              <a:gd name="adj" fmla="val 7905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895127" cy="651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3257B8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TRUST &amp; SAFETY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Security · Privacy · Reliability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96119" y="786185"/>
            <a:ext cx="2693640" cy="898922"/>
          </a:xfrm>
          <a:prstGeom prst="roundRect">
            <a:avLst>
              <a:gd name="adj" fmla="val 1183"/>
            </a:avLst>
          </a:prstGeom>
          <a:solidFill>
            <a:srgbClr val="E9ECF2"/>
          </a:solidFill>
        </p:spPr>
      </p:sp>
      <p:sp>
        <p:nvSpPr>
          <p:cNvPr id="6" name="Shape 4"/>
          <p:cNvSpPr/>
          <p:nvPr/>
        </p:nvSpPr>
        <p:spPr>
          <a:xfrm>
            <a:off x="566961" y="857027"/>
            <a:ext cx="212601" cy="212601"/>
          </a:xfrm>
          <a:prstGeom prst="ellipse">
            <a:avLst/>
          </a:prstGeom>
          <a:solidFill>
            <a:srgbClr val="476FD6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450" y="915516"/>
            <a:ext cx="95622" cy="956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61" y="1105049"/>
            <a:ext cx="2551956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Security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66961" y="1236985"/>
            <a:ext cx="2551956" cy="279871"/>
          </a:xfrm>
          <a:prstGeom prst="rect">
            <a:avLst/>
          </a:prstGeom>
          <a:noFill/>
        </p:spPr>
        <p:txBody>
          <a:bodyPr wrap="square" lIns="0" tIns="28353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Prompt-injection filtering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Input validation + rate limiting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API keys in environment variables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3225180" y="786185"/>
            <a:ext cx="2693640" cy="898922"/>
          </a:xfrm>
          <a:prstGeom prst="roundRect">
            <a:avLst>
              <a:gd name="adj" fmla="val 1183"/>
            </a:avLst>
          </a:prstGeom>
          <a:solidFill>
            <a:srgbClr val="E9ECF2"/>
          </a:solidFill>
        </p:spPr>
      </p:sp>
      <p:sp>
        <p:nvSpPr>
          <p:cNvPr id="11" name="Shape 8"/>
          <p:cNvSpPr/>
          <p:nvPr/>
        </p:nvSpPr>
        <p:spPr>
          <a:xfrm>
            <a:off x="3296022" y="857027"/>
            <a:ext cx="212601" cy="212601"/>
          </a:xfrm>
          <a:prstGeom prst="ellipse">
            <a:avLst/>
          </a:prstGeom>
          <a:solidFill>
            <a:srgbClr val="476FD6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4512" y="915516"/>
            <a:ext cx="95622" cy="956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6022" y="1105049"/>
            <a:ext cx="2551956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Privacy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3296022" y="1236985"/>
            <a:ext cx="2551956" cy="377279"/>
          </a:xfrm>
          <a:prstGeom prst="rect">
            <a:avLst/>
          </a:prstGeom>
          <a:noFill/>
        </p:spPr>
        <p:txBody>
          <a:bodyPr wrap="square" lIns="0" tIns="28353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No persistent personal profiles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PII stripped from reviews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Session-scoped data only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No private data in logs</a:t>
            </a:r>
            <a:endParaRPr lang="en-US" sz="550" dirty="0"/>
          </a:p>
        </p:txBody>
      </p:sp>
      <p:sp>
        <p:nvSpPr>
          <p:cNvPr id="15" name="Shape 11"/>
          <p:cNvSpPr/>
          <p:nvPr/>
        </p:nvSpPr>
        <p:spPr>
          <a:xfrm>
            <a:off x="5954241" y="786185"/>
            <a:ext cx="2693640" cy="898922"/>
          </a:xfrm>
          <a:prstGeom prst="roundRect">
            <a:avLst>
              <a:gd name="adj" fmla="val 1183"/>
            </a:avLst>
          </a:prstGeom>
          <a:solidFill>
            <a:srgbClr val="E9ECF2"/>
          </a:solidFill>
        </p:spPr>
      </p:sp>
      <p:sp>
        <p:nvSpPr>
          <p:cNvPr id="16" name="Shape 12"/>
          <p:cNvSpPr/>
          <p:nvPr/>
        </p:nvSpPr>
        <p:spPr>
          <a:xfrm>
            <a:off x="6025083" y="857027"/>
            <a:ext cx="212601" cy="212601"/>
          </a:xfrm>
          <a:prstGeom prst="ellipse">
            <a:avLst/>
          </a:prstGeom>
          <a:solidFill>
            <a:srgbClr val="476FD6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83573" y="915516"/>
            <a:ext cx="95622" cy="956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25083" y="1105049"/>
            <a:ext cx="2551956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Reliability</a:t>
            </a:r>
            <a:endParaRPr lang="en-US" sz="650" dirty="0"/>
          </a:p>
        </p:txBody>
      </p:sp>
      <p:sp>
        <p:nvSpPr>
          <p:cNvPr id="19" name="Text 14"/>
          <p:cNvSpPr/>
          <p:nvPr/>
        </p:nvSpPr>
        <p:spPr>
          <a:xfrm>
            <a:off x="6025083" y="1236985"/>
            <a:ext cx="2551956" cy="377279"/>
          </a:xfrm>
          <a:prstGeom prst="rect">
            <a:avLst/>
          </a:prstGeom>
          <a:noFill/>
        </p:spPr>
        <p:txBody>
          <a:bodyPr wrap="square" lIns="0" tIns="28353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Strict JSON output validation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Recommendation integrity checks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Cached catalog fallback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Raw search results if LLM fails</a:t>
            </a:r>
            <a:endParaRPr lang="en-US" sz="5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41" y="1724918"/>
            <a:ext cx="7890644" cy="29609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02209" y="3967059"/>
            <a:ext cx="1190147" cy="229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Recommend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502299" y="3967059"/>
            <a:ext cx="1190146" cy="229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Validate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010540" y="3967059"/>
            <a:ext cx="1190146" cy="229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Retrieve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2518781" y="3967059"/>
            <a:ext cx="1190146" cy="229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Search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94415" y="3967059"/>
            <a:ext cx="1190146" cy="229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Trace ID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96119" y="4725665"/>
            <a:ext cx="8608963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Every recommendation is traceable end-to-end for full auditability.</a:t>
            </a:r>
            <a:endParaRPr lang="en-US" sz="550" dirty="0"/>
          </a:p>
        </p:txBody>
      </p:sp>
      <p:sp>
        <p:nvSpPr>
          <p:cNvPr id="27" name="Rectangle 26"/>
          <p:cNvSpPr/>
          <p:nvPr/>
        </p:nvSpPr>
        <p:spPr>
          <a:xfrm>
            <a:off x="8023860" y="4841240"/>
            <a:ext cx="1129665" cy="26797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88305" cy="107603"/>
          </a:xfrm>
          <a:prstGeom prst="roundRect">
            <a:avLst>
              <a:gd name="adj" fmla="val 7905"/>
            </a:avLst>
          </a:prstGeom>
          <a:solidFill>
            <a:srgbClr val="D7DFF4"/>
          </a:solidFill>
        </p:spPr>
      </p:sp>
      <p:sp>
        <p:nvSpPr>
          <p:cNvPr id="3" name="Text 1"/>
          <p:cNvSpPr/>
          <p:nvPr/>
        </p:nvSpPr>
        <p:spPr>
          <a:xfrm>
            <a:off x="538609" y="411063"/>
            <a:ext cx="860524" cy="651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ARCHITECTURE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 Architecture &amp; Scalability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5996"/>
            <a:ext cx="4655344" cy="46553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29163" y="2554560"/>
            <a:ext cx="3323406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Performance Targets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5329163" y="2705100"/>
            <a:ext cx="1643955" cy="391939"/>
          </a:xfrm>
          <a:prstGeom prst="roundRect">
            <a:avLst>
              <a:gd name="adj" fmla="val 2713"/>
            </a:avLst>
          </a:prstGeom>
          <a:solidFill>
            <a:srgbClr val="FBFCFE"/>
          </a:solidFill>
          <a:ln w="9525">
            <a:solidFill>
              <a:srgbClr val="CFD2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09530" y="2785467"/>
            <a:ext cx="1483221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Search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409530" y="2931616"/>
            <a:ext cx="1483221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&lt;500ms p95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7008540" y="2705100"/>
            <a:ext cx="1644030" cy="391939"/>
          </a:xfrm>
          <a:prstGeom prst="roundRect">
            <a:avLst>
              <a:gd name="adj" fmla="val 2713"/>
            </a:avLst>
          </a:prstGeom>
          <a:solidFill>
            <a:srgbClr val="FBFCFE"/>
          </a:solidFill>
          <a:ln w="9525">
            <a:solidFill>
              <a:srgbClr val="CFD2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88907" y="2785467"/>
            <a:ext cx="1483296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LLM Response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7088907" y="2931616"/>
            <a:ext cx="1483296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&lt;5s p95</a:t>
            </a:r>
            <a:endParaRPr lang="en-US" sz="550" dirty="0"/>
          </a:p>
        </p:txBody>
      </p:sp>
      <p:sp>
        <p:nvSpPr>
          <p:cNvPr id="13" name="Shape 10"/>
          <p:cNvSpPr/>
          <p:nvPr/>
        </p:nvSpPr>
        <p:spPr>
          <a:xfrm>
            <a:off x="5329163" y="3132460"/>
            <a:ext cx="3323406" cy="391939"/>
          </a:xfrm>
          <a:prstGeom prst="roundRect">
            <a:avLst>
              <a:gd name="adj" fmla="val 2713"/>
            </a:avLst>
          </a:prstGeom>
          <a:solidFill>
            <a:srgbClr val="FBFCFE"/>
          </a:solidFill>
          <a:ln w="9525">
            <a:solidFill>
              <a:srgbClr val="CFD2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09530" y="3212827"/>
            <a:ext cx="3162672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Scale Path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5409530" y="3358976"/>
            <a:ext cx="3162672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10 demo → 1,000+ users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5329163" y="3564210"/>
            <a:ext cx="3323406" cy="184175"/>
          </a:xfrm>
          <a:prstGeom prst="roundRect">
            <a:avLst>
              <a:gd name="adj" fmla="val 5773"/>
            </a:avLst>
          </a:prstGeom>
          <a:solidFill>
            <a:srgbClr val="D7DFF4"/>
          </a:solidFill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5" y="3617342"/>
            <a:ext cx="88553" cy="7084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59400" y="3613770"/>
            <a:ext cx="3479527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Production stack:</a:t>
            </a:r>
            <a:r>
              <a:rPr lang="en-US" sz="5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PostgreSQL · Redis · Meilisearch · Docker / AWS</a:t>
            </a:r>
            <a:endParaRPr lang="en-US" sz="550" dirty="0"/>
          </a:p>
        </p:txBody>
      </p:sp>
      <p:sp>
        <p:nvSpPr>
          <p:cNvPr id="19" name="Rectangle 18"/>
          <p:cNvSpPr/>
          <p:nvPr/>
        </p:nvSpPr>
        <p:spPr>
          <a:xfrm>
            <a:off x="8023860" y="4841240"/>
            <a:ext cx="1129665" cy="26797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91766"/>
            <a:ext cx="1241673" cy="215354"/>
          </a:xfrm>
          <a:prstGeom prst="roundRect">
            <a:avLst>
              <a:gd name="adj" fmla="val 7900"/>
            </a:avLst>
          </a:prstGeom>
          <a:solidFill>
            <a:srgbClr val="D7DFF4"/>
          </a:solidFill>
        </p:spPr>
      </p:sp>
      <p:sp>
        <p:nvSpPr>
          <p:cNvPr id="3" name="Text 1"/>
          <p:cNvSpPr/>
          <p:nvPr/>
        </p:nvSpPr>
        <p:spPr>
          <a:xfrm>
            <a:off x="581174" y="834256"/>
            <a:ext cx="1528763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IMPACT &amp; 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63823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Business Value &amp; What's Next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719411"/>
            <a:ext cx="2622724" cy="1927101"/>
          </a:xfrm>
          <a:prstGeom prst="roundRect">
            <a:avLst>
              <a:gd name="adj" fmla="val 1103"/>
            </a:avLst>
          </a:prstGeom>
          <a:solidFill>
            <a:srgbClr val="E9ECF2"/>
          </a:solidFill>
        </p:spPr>
      </p:sp>
      <p:sp>
        <p:nvSpPr>
          <p:cNvPr id="6" name="Text 4"/>
          <p:cNvSpPr/>
          <p:nvPr/>
        </p:nvSpPr>
        <p:spPr>
          <a:xfrm>
            <a:off x="637877" y="1861170"/>
            <a:ext cx="2339206" cy="226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🎬</a:t>
            </a: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Live Demo Flow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7877" y="2172444"/>
            <a:ext cx="2339206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Search → Filter → AI Recommendation → Follow-up Chat → Fallback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719411"/>
            <a:ext cx="2622724" cy="1927101"/>
          </a:xfrm>
          <a:prstGeom prst="roundRect">
            <a:avLst>
              <a:gd name="adj" fmla="val 1103"/>
            </a:avLst>
          </a:prstGeom>
          <a:solidFill>
            <a:srgbClr val="E9ECF2"/>
          </a:solidFill>
        </p:spPr>
      </p:sp>
      <p:sp>
        <p:nvSpPr>
          <p:cNvPr id="9" name="Text 7"/>
          <p:cNvSpPr/>
          <p:nvPr/>
        </p:nvSpPr>
        <p:spPr>
          <a:xfrm>
            <a:off x="3402360" y="1861170"/>
            <a:ext cx="2339206" cy="226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💼</a:t>
            </a: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Business Value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02360" y="2172444"/>
            <a:ext cx="2339206" cy="1332309"/>
          </a:xfrm>
          <a:prstGeom prst="rect">
            <a:avLst/>
          </a:prstGeom>
          <a:noFill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Faster purchase decisions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Higher recommendation trust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Potentially lower returns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Reduced support load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E-commerce / marketplace / B2B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1719411"/>
            <a:ext cx="2622724" cy="1927101"/>
          </a:xfrm>
          <a:prstGeom prst="roundRect">
            <a:avLst>
              <a:gd name="adj" fmla="val 1103"/>
            </a:avLst>
          </a:prstGeom>
          <a:solidFill>
            <a:srgbClr val="E9ECF2"/>
          </a:solidFill>
        </p:spPr>
      </p:sp>
      <p:sp>
        <p:nvSpPr>
          <p:cNvPr id="12" name="Text 10"/>
          <p:cNvSpPr/>
          <p:nvPr/>
        </p:nvSpPr>
        <p:spPr>
          <a:xfrm>
            <a:off x="6166842" y="1861170"/>
            <a:ext cx="2339206" cy="226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🚀</a:t>
            </a: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Future Roadmap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66842" y="2172444"/>
            <a:ext cx="2339206" cy="1332309"/>
          </a:xfrm>
          <a:prstGeom prst="rect">
            <a:avLst/>
          </a:prstGeom>
          <a:noFill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Persistent preference profiles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Live review sentiment analysis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Price-drop alerts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Image-based product search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Real product APIs + A/B testing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8720" y="3965451"/>
            <a:ext cx="8396362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Not just a product search engine — an </a:t>
            </a:r>
            <a:r>
              <a:rPr lang="en-US" sz="1100" b="1" dirty="0">
                <a:solidFill>
                  <a:srgbClr val="15213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explainable AI decision layer</a:t>
            </a: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for shopping.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805982"/>
            <a:ext cx="19050" cy="545753"/>
          </a:xfrm>
          <a:prstGeom prst="roundRect">
            <a:avLst>
              <a:gd name="adj" fmla="val 50000"/>
            </a:avLst>
          </a:prstGeom>
          <a:solidFill>
            <a:srgbClr val="3257B8"/>
          </a:solidFill>
        </p:spPr>
      </p:sp>
      <p:sp>
        <p:nvSpPr>
          <p:cNvPr id="16" name="Rectangle 15"/>
          <p:cNvSpPr/>
          <p:nvPr/>
        </p:nvSpPr>
        <p:spPr>
          <a:xfrm>
            <a:off x="8023860" y="4841240"/>
            <a:ext cx="1129665" cy="26797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2100</Words>
  <Application>WPS Presentation</Application>
  <PresentationFormat>On-screen Show (16:9)</PresentationFormat>
  <Paragraphs>123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SimSun</vt:lpstr>
      <vt:lpstr>Wingdings</vt:lpstr>
      <vt:lpstr>Roboto</vt:lpstr>
      <vt:lpstr>Roboto</vt:lpstr>
      <vt:lpstr>Roboto</vt:lpstr>
      <vt:lpstr>Roboto Slab</vt:lpstr>
      <vt:lpstr>Roboto Slab</vt:lpstr>
      <vt:lpstr>Roboto Slab</vt:lpstr>
      <vt:lpstr>Roboto Bold</vt:lpstr>
      <vt:lpstr>Roboto Bold</vt:lpstr>
      <vt:lpstr>Roboto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Arunima</cp:lastModifiedBy>
  <cp:revision>2</cp:revision>
  <dcterms:created xsi:type="dcterms:W3CDTF">2026-08-12T08:49:00Z</dcterms:created>
  <dcterms:modified xsi:type="dcterms:W3CDTF">2026-08-12T08:52:42Z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5F632A66347F45599B9833A90A32A5C3_12</vt:lpwstr>
  </property>
</Properties>
</file>